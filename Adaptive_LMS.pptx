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6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4754880" cy="47548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LMS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Service-Oriented Architecture for Personalized, AI-Based Learning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2410030533 — Nihal Reddy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49040" y="4480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2410030428 — Manoj Kumar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2410030484 — Bhanu Prakash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49040" y="4846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2410030134 — Sai Rithvik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AI-personalized learning is increasingly expected in higher education, but institutional LMS platforms were not designed for rapid AI experimentation. Restructuring the LMS around a Service-Oriented Architecture (SOA) — where personalization, content, and analytics are independent services — offers a path to add AI capability without destabilizing the core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 SOA-based LMS deliver AI-driven personalization at scale while preserving maintainability and interoperability?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3538728" cy="192024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SOA blueprint for an adaptive LMS, defining service boundaries and interfaces.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06824" y="4114800"/>
            <a:ext cx="3538728" cy="192024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1144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81144" y="5029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81144" y="539496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with discrete services and an AI recommendation component.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65008" y="4114800"/>
            <a:ext cx="3538728" cy="192024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9328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328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39328" y="5029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9328" y="539496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and system metrics through a 12-week pilot with 120 learners.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61772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5989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institutional Learning Management Systems (LMS) are built as tightly-coupled monoliths, which slows the delivery of analytics and personalized recommendations.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</a:t>
            </a: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LMS</a:t>
            </a: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on a Service-Oriented Architecture (SOA), where authentication, content delivery, recommendation, and analytics operate as independent, loosely-coupled services.</a:t>
            </a:r>
            <a:endParaRPr lang="en-US" sz="14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was implemented with nine discrete microservices and a hybrid collaborative + content-based AI recommendation engine, connected via REST/gRPC on containerized infrastructure.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evaluated in a 1-week pilot with 10 learners, measuring both learning outcomes and system performance to test whether SOA can deliver AI-driven personalization at scale while preserving maintainability and interoperability.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60920" y="1554480"/>
            <a:ext cx="4251960" cy="9784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645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89520" y="21305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microservices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60920" y="2715768"/>
            <a:ext cx="4251960" cy="9784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28072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589520" y="32918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in the pilot cohort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60920" y="3877056"/>
            <a:ext cx="4251960" cy="9784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89520" y="39684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89520" y="44531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evaluation period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0920" y="5038344"/>
            <a:ext cx="4251960" cy="9784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51297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AI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589520" y="561441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+ content-based engine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Monolithic LMS Platforms Fall Short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96596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 coupling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content, and analytics share one codebase, so a single change risks the entire platform.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196596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AI iteration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2862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and personalization logic cannot be updated or A/B tested without redeploying the whole LMS.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74720" cy="196596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scalability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66760" y="2862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scales together, even when only one — e.g. recommendations at peak load — needs more capacity.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474720" cy="196596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interoperability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5148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Monoliths expose few standard interfaces, making it hard to plug in new AI models or external content sources.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474720" cy="196596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point of failure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72000" y="5148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outage or bug in one module (e.g. notifications) can take down core learning and assessment functions.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474720" cy="1965960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experimentation risk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66760" y="5148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avoid trying new AI-driven features because failures are costly and hard to isolate.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1713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Addressed by 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Dagger, O'Connor, Lawless, Walsh &amp; Wade (2007)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Service-oriented eLearning platforms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shifting monolithic eLearning platforms to flexible, standards-based services.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the concept to a full 9-service prototype with an AI recommendation layer.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Al-Ajlan &amp; Zedan (2008)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Moodle re-architected with SOA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SOA principles to an open-source LMS (Moodle) to improve modularity.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dedicated analytics + recommendation service absent from this design.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Chu, Chang, Yeh &amp; Yeh (2004)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Web-service framework for SCORM LMS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 web-service oriented framework for SCORM-compatible content delivery.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Generalizes beyond SCORM content services to the full learning workflow.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Cristea &amp; De Mooij; related AEHS work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Educational Hypermedia Systems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Addressed interoperability and reusability limits of adaptive hypermedia systems.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Operationalizes adaptivity as a hybrid recommendation microservice, not just content rules.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Learning Environment (PLE) architecture studies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Self-organized PLE via SOA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heterogeneous learning services behind a gateway layer.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with a controlled 12-week, 120-learner pilot and measured outcomes.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SOA-based e-learning management studies (SQU &amp; related)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 to overcome LMS scalability limits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SOA to decouple LMS resources and improve cross-system integration.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quantitative pilot evaluation of learning outcomes, not just system design.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names are used for academic attribution of research focus only; content is paraphrased and not quoted from source publications.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SOA Service 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66928"/>
          </a:xfrm>
          <a:prstGeom prst="rect">
            <a:avLst/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 —  Web Portal · Mobile App · LTI Integrations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121408"/>
            <a:ext cx="0" cy="25603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23360" y="2377440"/>
            <a:ext cx="411480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/  Service Mesh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880360"/>
            <a:ext cx="0" cy="2286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127248"/>
            <a:ext cx="113182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1790192" y="3127248"/>
            <a:ext cx="113182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817624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031744" y="3127248"/>
            <a:ext cx="113182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059176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Catalog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273296" y="3127248"/>
            <a:ext cx="113182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300728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514848" y="3127248"/>
            <a:ext cx="113182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542280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7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(AI)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756400" y="3127248"/>
            <a:ext cx="113182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783832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997952" y="3127248"/>
            <a:ext cx="113182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025384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239504" y="3127248"/>
            <a:ext cx="113182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266936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10481056" y="3127248"/>
            <a:ext cx="113182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10508488" y="3127248"/>
            <a:ext cx="107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48640" y="4288536"/>
            <a:ext cx="1106424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4552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6104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97656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39208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22312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63864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05416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46968" y="4087368"/>
            <a:ext cx="0" cy="201168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4288536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8640" y="4526280"/>
            <a:ext cx="2037283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526280"/>
            <a:ext cx="194584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Auth DB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05379" y="4526280"/>
            <a:ext cx="2037283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51099" y="4526280"/>
            <a:ext cx="194584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62118" y="4526280"/>
            <a:ext cx="2037283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7838" y="4526280"/>
            <a:ext cx="194584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DB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18858" y="4526280"/>
            <a:ext cx="2037283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4578" y="4526280"/>
            <a:ext cx="194584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Warehouse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575597" y="4526280"/>
            <a:ext cx="2037283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21317" y="4526280"/>
            <a:ext cx="194584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Store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52669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5440680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5394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microservice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26080" y="5440680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0" y="53949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microservice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independent microservices sit behind a single API gateway / service mesh, each owning its own data store — enabling the Recommendation service to be updated or retrained without touching the rest of the LMS.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— Adaptive Learning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47088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901952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9019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45059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opens a module or submits a response in the client app.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3063240"/>
            <a:ext cx="457200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52928" y="2286000"/>
            <a:ext cx="1847088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901952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9019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62656" y="245059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90088" y="3035808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service logs the interaction as a timestamped event.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0016" y="3063240"/>
            <a:ext cx="457200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57216" y="2286000"/>
            <a:ext cx="1847088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1901952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24728" y="19019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66944" y="245059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94376" y="3035808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model scores next-best content for that learner.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04304" y="3063240"/>
            <a:ext cx="457200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61504" y="2286000"/>
            <a:ext cx="1847088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9016" y="1901952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9016" y="19019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71232" y="245059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98664" y="3035808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Catalog service streams the recommended item.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08592" y="3063240"/>
            <a:ext cx="457200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65792" y="2286000"/>
            <a:ext cx="1847088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33304" y="1901952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33304" y="19019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875520" y="245059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902952" y="3035808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service scores the response and updates the learner model.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689336" y="3840480"/>
            <a:ext cx="0" cy="502920"/>
          </a:xfrm>
          <a:prstGeom prst="line">
            <a:avLst/>
          </a:prstGeom>
          <a:noFill/>
          <a:ln w="22225">
            <a:solidFill>
              <a:srgbClr val="2FA37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080760" y="4343400"/>
            <a:ext cx="4608576" cy="0"/>
          </a:xfrm>
          <a:prstGeom prst="line">
            <a:avLst/>
          </a:prstGeom>
          <a:noFill/>
          <a:ln w="22225">
            <a:solidFill>
              <a:srgbClr val="2FA37A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080760" y="3840480"/>
            <a:ext cx="0" cy="502920"/>
          </a:xfrm>
          <a:prstGeom prst="line">
            <a:avLst/>
          </a:prstGeom>
          <a:noFill/>
          <a:ln w="22225">
            <a:solidFill>
              <a:srgbClr val="2FA37A"/>
            </a:solidFill>
            <a:prstDash val="dash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model updates feed back into the Recommendation service for the next session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event-driven flow lets the Recommendation microservice be retrained or A/B tested independently, since it only communicates through published service events.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Adaptive LMS: An SOA-Driven Architecture for Personalized, AI-Based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2410030533 — Nihal Reddy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2410030428 — Manoj Kumar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2410030484 — Bhanu Prakash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2410030134 — Sai Rithvik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954</Words>
  <Application>Microsoft Office PowerPoint</Application>
  <PresentationFormat>Widescreen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PAKKIREDDY NIHAL REDDY .</cp:lastModifiedBy>
  <cp:revision>3</cp:revision>
  <dcterms:created xsi:type="dcterms:W3CDTF">2026-08-19T03:22:07Z</dcterms:created>
  <dcterms:modified xsi:type="dcterms:W3CDTF">2026-08-19T03:33:41Z</dcterms:modified>
</cp:coreProperties>
</file>